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837" y="642937"/>
            <a:ext cx="10747743" cy="4018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57">
                <a:solidFill>
                  <a:srgbClr val="12202A"/>
                </a:solidFill>
                <a:latin typeface="Arial"/>
              </a:rPr>
              <a:t>Solving the Contact Center Crisis with Real-Time Voice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3348" y="1455539"/>
            <a:ext cx="132906" cy="8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A18F8F"/>
                </a:solidFill>
                <a:latin typeface="Arial"/>
              </a:rPr>
              <a:t>ia]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953" y="1919882"/>
            <a:ext cx="3792278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111D28"/>
                </a:solidFill>
                <a:latin typeface="Arial"/>
              </a:rPr>
              <a:t>The Crisis vs. The GenAl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2813" y="1973460"/>
            <a:ext cx="1603744" cy="517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80">
                <a:solidFill>
                  <a:srgbClr val="3B6EB2"/>
                </a:solidFill>
                <a:latin typeface="Arial"/>
              </a:rPr>
              <a:t>&lt;1.5s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71836" y="1964531"/>
            <a:ext cx="1515139" cy="517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80">
                <a:solidFill>
                  <a:srgbClr val="7A957E"/>
                </a:solidFill>
                <a:latin typeface="Arial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302" y="2589609"/>
            <a:ext cx="3694813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30202"/>
                </a:solidFill>
                <a:latin typeface="Arial"/>
              </a:rPr>
              <a:t>High Turnover: 30%-45% annual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3441" y="2687835"/>
            <a:ext cx="128476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10205"/>
                </a:solidFill>
                <a:latin typeface="Arial"/>
              </a:rPr>
              <a:t>Median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906" y="2687835"/>
            <a:ext cx="1913860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402"/>
                </a:solidFill>
                <a:latin typeface="Arial"/>
              </a:rPr>
              <a:t>Grounded &amp;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302" y="2866429"/>
            <a:ext cx="3863162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50404"/>
                </a:solidFill>
                <a:latin typeface="Arial"/>
              </a:rPr>
              <a:t>attrition drives non-stop hiring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255" y="2955726"/>
            <a:ext cx="761999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30407"/>
                </a:solidFill>
                <a:latin typeface="Arial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9929" y="2955726"/>
            <a:ext cx="1036674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20402"/>
                </a:solidFill>
                <a:latin typeface="Arial"/>
              </a:rPr>
              <a:t>Responses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953" y="3303984"/>
            <a:ext cx="443909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202"/>
                </a:solidFill>
                <a:latin typeface="Arial"/>
              </a:rPr>
              <a:t>e High Handle Times: Tier-1 AHT averages 5-8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302" y="3580804"/>
            <a:ext cx="4270744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50303"/>
                </a:solidFill>
                <a:latin typeface="Arial"/>
              </a:rPr>
              <a:t>minutes, largely burned on repetitive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7302" y="4018359"/>
            <a:ext cx="4004930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101"/>
                </a:solidFill>
                <a:latin typeface="Arial"/>
              </a:rPr>
              <a:t>IVR Drop-Off: Legacy touch-tone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8441" y="4295179"/>
            <a:ext cx="3428999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50403"/>
                </a:solidFill>
                <a:latin typeface="Arial"/>
              </a:rPr>
              <a:t>frustrate callers and drive drop-offs.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464" y="4027289"/>
            <a:ext cx="1178441" cy="526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543">
                <a:solidFill>
                  <a:srgbClr val="3D6FB4"/>
                </a:solidFill>
                <a:latin typeface="Arial"/>
              </a:rPr>
              <a:t>&lt;2S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534" y="4018359"/>
            <a:ext cx="1559441" cy="535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7">
                <a:solidFill>
                  <a:srgbClr val="192B3A"/>
                </a:solidFill>
                <a:latin typeface="Arial"/>
              </a:rPr>
              <a:t>Tier-1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8441" y="4732734"/>
            <a:ext cx="445681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000"/>
                </a:solidFill>
                <a:latin typeface="Arial"/>
              </a:rPr>
              <a:t>The GenAl Risk: Uncontrolled LLMs hallucinate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4581" y="4750593"/>
            <a:ext cx="128476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10306"/>
                </a:solidFill>
                <a:latin typeface="Arial"/>
              </a:rPr>
              <a:t>Warm 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0185" y="4750593"/>
            <a:ext cx="120502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10102"/>
                </a:solidFill>
                <a:latin typeface="Arial"/>
              </a:rPr>
              <a:t>Multi-Tenant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302" y="5009554"/>
            <a:ext cx="4421371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50403"/>
                </a:solidFill>
                <a:latin typeface="Arial"/>
              </a:rPr>
              <a:t>policies and pricing—a catastrophic brand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4581" y="5009554"/>
            <a:ext cx="1293627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20306"/>
                </a:solidFill>
                <a:latin typeface="Arial"/>
              </a:rPr>
              <a:t>Handoff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3976" y="5018484"/>
            <a:ext cx="788581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10203"/>
                </a:solidFill>
                <a:latin typeface="Arial"/>
              </a:rPr>
              <a:t>Isolation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5999" y="5920382"/>
            <a:ext cx="7557976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40708"/>
                </a:solidFill>
                <a:latin typeface="Arial"/>
              </a:rPr>
              <a:t>AsistLine Al delivers human-quality, zero-hallucination voice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4465" y="6215062"/>
            <a:ext cx="6663069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30607"/>
                </a:solidFill>
                <a:latin typeface="Arial"/>
              </a:rPr>
              <a:t>that frees human agents to focus on high-value conversations.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86953" y="6688335"/>
            <a:ext cx="434162" cy="8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121212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4790" y="660796"/>
            <a:ext cx="10473069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47">
                <a:solidFill>
                  <a:srgbClr val="010101"/>
                </a:solidFill>
                <a:latin typeface="Arial"/>
              </a:rPr>
              <a:t>Unlocking an 80% Reduction in Cost Per Productive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883" y="1616273"/>
            <a:ext cx="168348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516F97"/>
                </a:solidFill>
                <a:latin typeface="Arial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46581" y="1580554"/>
            <a:ext cx="221511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57759C"/>
                </a:solidFill>
                <a:latin typeface="Arial"/>
              </a:rPr>
              <a:t>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255" y="2080617"/>
            <a:ext cx="1010092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00002"/>
                </a:solidFill>
                <a:latin typeface="Arial"/>
              </a:rPr>
              <a:t>Human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3139" y="2080617"/>
            <a:ext cx="1054395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00002"/>
                </a:solidFill>
                <a:latin typeface="Arial"/>
              </a:rPr>
              <a:t>AsistLine 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790" y="2080617"/>
            <a:ext cx="3039139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403"/>
                </a:solidFill>
                <a:latin typeface="Arial"/>
              </a:rPr>
              <a:t>Speech-to-Text: $0.004 — $0.024/min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744" y="2196703"/>
            <a:ext cx="1532860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00103"/>
                </a:solidFill>
                <a:latin typeface="Arial"/>
              </a:rPr>
              <a:t>Metric / Call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8767" y="2303859"/>
            <a:ext cx="1337930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00102"/>
                </a:solidFill>
                <a:latin typeface="Arial"/>
              </a:rPr>
              <a:t>Center (US/CA)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813" y="2312789"/>
            <a:ext cx="513906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00102"/>
                </a:solidFill>
                <a:latin typeface="Arial"/>
              </a:rPr>
              <a:t>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2837" y="2196703"/>
            <a:ext cx="1054395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00002"/>
                </a:solidFill>
                <a:latin typeface="Arial"/>
              </a:rPr>
              <a:t>Net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837" y="2937867"/>
            <a:ext cx="1160720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30303"/>
                </a:solidFill>
                <a:latin typeface="Arial"/>
              </a:rPr>
              <a:t>Per active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837" y="3053953"/>
            <a:ext cx="1036674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20202"/>
                </a:solidFill>
                <a:latin typeface="Arial"/>
              </a:rPr>
              <a:t>Billing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023" y="2928937"/>
            <a:ext cx="1506279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40404"/>
                </a:solidFill>
                <a:latin typeface="Arial"/>
              </a:rPr>
              <a:t>Hourly ($35-$50+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3092" y="2937867"/>
            <a:ext cx="1213883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40403"/>
                </a:solidFill>
                <a:latin typeface="Arial"/>
              </a:rPr>
              <a:t>Pay only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3650" y="3000375"/>
            <a:ext cx="3021418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30303"/>
                </a:solidFill>
                <a:latin typeface="Arial"/>
              </a:rPr>
              <a:t>LLM Reasoning: $0.003 - $0.040/min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5092" y="3161109"/>
            <a:ext cx="1125279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303"/>
                </a:solidFill>
                <a:latin typeface="Arial"/>
              </a:rPr>
              <a:t>loaded wage)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371" y="3170039"/>
            <a:ext cx="593651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20203"/>
                </a:solidFill>
                <a:latin typeface="Arial"/>
              </a:rPr>
              <a:t>minute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4604" y="3170039"/>
            <a:ext cx="770860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303"/>
                </a:solidFill>
                <a:latin typeface="Arial"/>
              </a:rPr>
              <a:t>speaking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60" y="3902273"/>
            <a:ext cx="167462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305"/>
                </a:solidFill>
                <a:latin typeface="Arial"/>
              </a:rPr>
              <a:t>Effective Cost /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5092" y="3795117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40508"/>
                </a:solidFill>
                <a:latin typeface="Arial"/>
              </a:rPr>
              <a:t>$1.00 - $1.70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6558" y="3893343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306"/>
                </a:solidFill>
                <a:latin typeface="Arial"/>
              </a:rPr>
              <a:t>$0.08 - $0.25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7139" y="3795117"/>
            <a:ext cx="965790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77977B"/>
                </a:solidFill>
                <a:latin typeface="Arial"/>
              </a:rPr>
              <a:t>75% — 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6999" y="4018359"/>
            <a:ext cx="1621465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30406"/>
                </a:solidFill>
                <a:latin typeface="Arial"/>
              </a:rPr>
              <a:t>(50-60% occupancy)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185" y="4027289"/>
            <a:ext cx="717697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75977A"/>
                </a:solidFill>
                <a:latin typeface="Arial"/>
              </a:rPr>
              <a:t>cheaper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7069" y="3911203"/>
            <a:ext cx="3065720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303"/>
                </a:solidFill>
                <a:latin typeface="Arial"/>
              </a:rPr>
              <a:t>Voice Synthesis: $0.020 - $0.120/min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4743" y="4277320"/>
            <a:ext cx="239232" cy="3571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41">
                <a:solidFill>
                  <a:srgbClr val="5F728F"/>
                </a:solidFill>
                <a:latin typeface="Arial"/>
              </a:rPr>
              <a:t>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023" y="4652367"/>
            <a:ext cx="1559441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40404"/>
                </a:solidFill>
                <a:latin typeface="Arial"/>
              </a:rPr>
              <a:t>Quick Call (1.5 min)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5092" y="4643437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50505"/>
                </a:solidFill>
                <a:latin typeface="Arial"/>
              </a:rPr>
              <a:t>$1.50 - $2.55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558" y="4643437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40404"/>
                </a:solidFill>
                <a:latin typeface="Arial"/>
              </a:rPr>
              <a:t>$0.15 - $0.25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116" y="4643437"/>
            <a:ext cx="108983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40404"/>
                </a:solidFill>
                <a:latin typeface="Arial"/>
              </a:rPr>
              <a:t>~$2.00 saved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3023" y="4795242"/>
            <a:ext cx="3322674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20302"/>
                </a:solidFill>
                <a:latin typeface="Arial"/>
              </a:rPr>
              <a:t>Telephony &amp; Media: $0.008 - $0.022/min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255" y="5286375"/>
            <a:ext cx="1834116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30407"/>
                </a:solidFill>
                <a:latin typeface="Arial"/>
              </a:rPr>
              <a:t>Standard Call (3.5 min)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5092" y="5277445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30406"/>
                </a:solidFill>
                <a:latin typeface="Arial"/>
              </a:rPr>
              <a:t>$3.50 - $5.95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6558" y="5277445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30407"/>
                </a:solidFill>
                <a:latin typeface="Arial"/>
              </a:rPr>
              <a:t>$0.35 - $0.60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5116" y="5277445"/>
            <a:ext cx="108983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30406"/>
                </a:solidFill>
                <a:latin typeface="Arial"/>
              </a:rPr>
              <a:t>~$4.00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04" y="5920382"/>
            <a:ext cx="1506279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40504"/>
                </a:solidFill>
                <a:latin typeface="Arial"/>
              </a:rPr>
              <a:t>Long Call (7.0 min)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0790" y="5911453"/>
            <a:ext cx="121388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40504"/>
                </a:solidFill>
                <a:latin typeface="Arial"/>
              </a:rPr>
              <a:t>$7.00 - $11.90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6558" y="5911453"/>
            <a:ext cx="111641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40404"/>
                </a:solidFill>
                <a:latin typeface="Arial"/>
              </a:rPr>
              <a:t>$0.80 - $1.40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5116" y="5911453"/>
            <a:ext cx="108983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30403"/>
                </a:solidFill>
                <a:latin typeface="Arial"/>
              </a:rPr>
              <a:t>~$8.00 saved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86953" y="6688335"/>
            <a:ext cx="434162" cy="8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121212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7069" y="651867"/>
            <a:ext cx="10260418" cy="455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37">
                <a:solidFill>
                  <a:srgbClr val="000100"/>
                </a:solidFill>
                <a:latin typeface="Arial"/>
              </a:rPr>
              <a:t>Combining Infinite Al Efficiency with Human Empathy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023" y="1464468"/>
            <a:ext cx="177209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566F90"/>
                </a:solidFill>
                <a:latin typeface="Arial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627" y="1473398"/>
            <a:ext cx="17720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587292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1767" y="1678781"/>
            <a:ext cx="1461976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00000"/>
                </a:solidFill>
                <a:latin typeface="Arial"/>
              </a:rPr>
              <a:t>Queue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255" y="1678781"/>
            <a:ext cx="1550581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000000"/>
                </a:solidFill>
                <a:latin typeface="Arial"/>
              </a:rPr>
              <a:t>Concurrency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2302" y="1687710"/>
            <a:ext cx="125818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000000"/>
                </a:solidFill>
                <a:latin typeface="Arial"/>
              </a:rPr>
              <a:t>Data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61697" y="1678781"/>
            <a:ext cx="1001232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000000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558" y="2107406"/>
            <a:ext cx="2330302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1"/>
                </a:solidFill>
                <a:latin typeface="Arial"/>
              </a:rPr>
              <a:t>¢ Human: 1 call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0767" y="2107406"/>
            <a:ext cx="2055627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1"/>
                </a:solidFill>
                <a:latin typeface="Arial"/>
              </a:rPr>
              <a:t>¢ Human: Callers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76" y="2107406"/>
            <a:ext cx="2188534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10201"/>
                </a:solidFill>
                <a:latin typeface="Arial"/>
              </a:rPr>
              <a:t>¢ Human: Manual post-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325" y="2116335"/>
            <a:ext cx="2312581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10101"/>
                </a:solidFill>
                <a:latin typeface="Arial"/>
              </a:rPr>
              <a:t>¢ Human: 30%+ turnover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255" y="2366367"/>
            <a:ext cx="699976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201"/>
                </a:solidFill>
                <a:latin typeface="Arial"/>
              </a:rPr>
              <a:t>on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906" y="2384226"/>
            <a:ext cx="894906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10101"/>
                </a:solidFill>
                <a:latin typeface="Arial"/>
              </a:rPr>
              <a:t>per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464" y="2366367"/>
            <a:ext cx="1142999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10201"/>
                </a:solidFill>
                <a:latin typeface="Arial"/>
              </a:rPr>
              <a:t>call wrap-up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813" y="2375296"/>
            <a:ext cx="1080976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10201"/>
                </a:solidFill>
                <a:latin typeface="Arial"/>
              </a:rPr>
              <a:t>&amp; 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558" y="2652117"/>
            <a:ext cx="2215116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30302"/>
                </a:solidFill>
                <a:latin typeface="Arial"/>
              </a:rPr>
              <a:t>¢ Al: Infinite concurrent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395" y="2652117"/>
            <a:ext cx="1718930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40403"/>
                </a:solidFill>
                <a:latin typeface="Arial"/>
              </a:rPr>
              <a:t>Al: Zero queueing,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976" y="2652117"/>
            <a:ext cx="202018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718C72"/>
                </a:solidFill>
                <a:latin typeface="Arial"/>
              </a:rPr>
              <a:t>¢ Al: 100% structured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813" y="2652117"/>
            <a:ext cx="1656906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738F73"/>
                </a:solidFill>
                <a:latin typeface="Arial"/>
              </a:rPr>
              <a:t>Al: Zero turnover,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46" y="2893218"/>
            <a:ext cx="1701209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494A49"/>
                </a:solidFill>
                <a:latin typeface="Arial"/>
              </a:rPr>
              <a:t>calls (0 to 1,000+)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255" y="2911078"/>
            <a:ext cx="2046767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353534"/>
                </a:solidFill>
                <a:latin typeface="Arial"/>
              </a:rPr>
              <a:t>answers 1st ring 24/7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604" y="2902148"/>
            <a:ext cx="195816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20302"/>
                </a:solidFill>
                <a:latin typeface="Arial"/>
              </a:rPr>
              <a:t>JSON logs synced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674" y="2902148"/>
            <a:ext cx="1461976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30302"/>
                </a:solidFill>
                <a:latin typeface="Arial"/>
              </a:rPr>
              <a:t>instant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464" y="3170039"/>
            <a:ext cx="451883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0"/>
                </a:solidFill>
                <a:latin typeface="Arial"/>
              </a:rPr>
              <a:t>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99" y="4116585"/>
            <a:ext cx="3836581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000000"/>
                </a:solidFill>
                <a:latin typeface="Arial"/>
              </a:rPr>
              <a:t>Tier 1: AsistLine Al Voice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9860" y="4107656"/>
            <a:ext cx="3110023" cy="3036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61">
                <a:solidFill>
                  <a:srgbClr val="000004"/>
                </a:solidFill>
                <a:latin typeface="Arial"/>
              </a:rPr>
              <a:t>Tier 2: Human Specialists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1348" y="4438054"/>
            <a:ext cx="2737883" cy="3036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61">
                <a:solidFill>
                  <a:srgbClr val="000000"/>
                </a:solidFill>
                <a:latin typeface="Arial"/>
              </a:rPr>
              <a:t>(70% - 80% of Volume)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5930" y="4438054"/>
            <a:ext cx="2737883" cy="3036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61">
                <a:solidFill>
                  <a:srgbClr val="000004"/>
                </a:solidFill>
                <a:latin typeface="Arial"/>
              </a:rPr>
              <a:t>(20% - 30% of Volume)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5139" y="4902398"/>
            <a:ext cx="1550581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00101"/>
                </a:solidFill>
                <a:latin typeface="Arial"/>
              </a:rPr>
              <a:t>Warm Transfer 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7325" y="4947046"/>
            <a:ext cx="2383465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106"/>
                </a:solidFill>
                <a:latin typeface="Arial"/>
              </a:rPr>
              <a:t>Transfer inside the SAME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67" y="4947046"/>
            <a:ext cx="2755604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20302"/>
                </a:solidFill>
                <a:latin typeface="Arial"/>
              </a:rPr>
              <a:t>« Handles FAQs, order status,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7418" y="5170289"/>
            <a:ext cx="1586023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78937A"/>
                </a:solidFill>
                <a:latin typeface="Arial"/>
              </a:rPr>
              <a:t>Under 2 seconds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255" y="5206007"/>
            <a:ext cx="1027813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10201"/>
                </a:solidFill>
                <a:latin typeface="Arial"/>
              </a:rPr>
              <a:t>scheduling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7325" y="5206007"/>
            <a:ext cx="1355651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208"/>
                </a:solidFill>
                <a:latin typeface="Arial"/>
              </a:rPr>
              <a:t>WebRTC 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767" y="5500687"/>
            <a:ext cx="3402418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303"/>
                </a:solidFill>
                <a:latin typeface="Arial"/>
              </a:rPr>
              <a:t>+ Validates caller identity &amp; captures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6697" y="5500687"/>
            <a:ext cx="3260651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00308"/>
                </a:solidFill>
                <a:latin typeface="Arial"/>
              </a:rPr>
              <a:t>¢ Screen-pop displays Al summary,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116" y="5768578"/>
            <a:ext cx="1045534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1"/>
                </a:solidFill>
                <a:latin typeface="Arial"/>
              </a:rPr>
              <a:t>intake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7325" y="5759648"/>
            <a:ext cx="1931581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00208"/>
                </a:solidFill>
                <a:latin typeface="Arial"/>
              </a:rPr>
              <a:t>verified data, and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86953" y="6688335"/>
            <a:ext cx="434162" cy="8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121212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31255" y="348257"/>
            <a:ext cx="115186" cy="1071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282828"/>
                </a:solidFill>
                <a:latin typeface="Arial"/>
              </a:rPr>
              <a:t>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372" y="580429"/>
            <a:ext cx="8887046" cy="4732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64">
                <a:solidFill>
                  <a:srgbClr val="1B242C"/>
                </a:solidFill>
                <a:latin typeface="Arial"/>
              </a:rPr>
              <a:t>The End-to-End Frictionless Caller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7930" y="1303734"/>
            <a:ext cx="186069" cy="982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282828"/>
                </a:solidFill>
                <a:latin typeface="Arial"/>
              </a:rP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0813" y="1303734"/>
            <a:ext cx="150627" cy="982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282828"/>
                </a:solidFill>
                <a:latin typeface="Arial"/>
              </a:rPr>
              <a:t>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2837" y="2661046"/>
            <a:ext cx="88604" cy="1071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56616A"/>
                </a:solidFill>
                <a:latin typeface="Arial"/>
              </a:rPr>
              <a:t>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395" y="2393156"/>
            <a:ext cx="1222744" cy="5089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17">
                <a:solidFill>
                  <a:srgbClr val="586A83"/>
                </a:solidFill>
                <a:latin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8906" y="2750343"/>
            <a:ext cx="389860" cy="3929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94">
                <a:solidFill>
                  <a:srgbClr val="3D5A80"/>
                </a:solidFill>
                <a:latin typeface="Arial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3534" y="2437804"/>
            <a:ext cx="425302" cy="3929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94">
                <a:solidFill>
                  <a:srgbClr val="5A6B81"/>
                </a:solidFill>
                <a:latin typeface="Arial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0348" y="2750343"/>
            <a:ext cx="389860" cy="3929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94">
                <a:solidFill>
                  <a:srgbClr val="3D5A80"/>
                </a:solidFill>
                <a:latin typeface="Arial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2930" y="2750343"/>
            <a:ext cx="398720" cy="3839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31">
                <a:solidFill>
                  <a:srgbClr val="3E5B80"/>
                </a:solidFill>
                <a:latin typeface="Arial"/>
              </a:rPr>
              <a:t>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4371" y="2750343"/>
            <a:ext cx="389860" cy="3929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94">
                <a:solidFill>
                  <a:srgbClr val="3E5B81"/>
                </a:solidFill>
                <a:latin typeface="Arial"/>
              </a:rPr>
              <a:t>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116" y="3170039"/>
            <a:ext cx="1532860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151611"/>
                </a:solidFill>
                <a:latin typeface="Arial"/>
              </a:rPr>
              <a:t>Caller browser joins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3697" y="3214687"/>
            <a:ext cx="1151860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50502"/>
                </a:solidFill>
                <a:latin typeface="Arial"/>
              </a:rPr>
              <a:t>Python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5139" y="3205757"/>
            <a:ext cx="158602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70704"/>
                </a:solidFill>
                <a:latin typeface="Arial"/>
              </a:rPr>
              <a:t>Engine routes intent.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7720" y="3205757"/>
            <a:ext cx="1249325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50502"/>
                </a:solidFill>
                <a:latin typeface="Arial"/>
              </a:rPr>
              <a:t>Strict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0302" y="3214687"/>
            <a:ext cx="1213883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40401"/>
                </a:solidFill>
                <a:latin typeface="Arial"/>
              </a:rPr>
              <a:t>Audio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116" y="3411140"/>
            <a:ext cx="753139" cy="1518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5">
                <a:solidFill>
                  <a:srgbClr val="070803"/>
                </a:solidFill>
                <a:latin typeface="Arial"/>
              </a:rPr>
              <a:t>call room.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3697" y="3402210"/>
            <a:ext cx="1461976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70804"/>
                </a:solidFill>
                <a:latin typeface="Arial"/>
              </a:rPr>
              <a:t>detects speech via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5139" y="3402210"/>
            <a:ext cx="735418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80904"/>
                </a:solidFill>
                <a:latin typeface="Arial"/>
              </a:rPr>
              <a:t>If routine: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7720" y="3402210"/>
            <a:ext cx="143539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90905"/>
                </a:solidFill>
                <a:latin typeface="Arial"/>
              </a:rPr>
              <a:t>guard verifies info.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9162" y="3402210"/>
            <a:ext cx="113413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70704"/>
                </a:solidFill>
                <a:latin typeface="Arial"/>
              </a:rPr>
              <a:t>played back 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4837" y="3598664"/>
            <a:ext cx="38099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30300"/>
                </a:solidFill>
                <a:latin typeface="Arial"/>
              </a:rPr>
              <a:t>VAD.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5139" y="3598664"/>
            <a:ext cx="1134139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40501"/>
                </a:solidFill>
                <a:latin typeface="Arial"/>
              </a:rPr>
              <a:t>Hybrid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9162" y="3598664"/>
            <a:ext cx="1293627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40401"/>
                </a:solidFill>
                <a:latin typeface="Arial"/>
              </a:rPr>
              <a:t>caller with &lt; 1.5s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976" y="3741539"/>
            <a:ext cx="1532860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40400"/>
                </a:solidFill>
                <a:latin typeface="Arial"/>
              </a:rPr>
              <a:t>LiveKit SFU initiates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3697" y="3795117"/>
            <a:ext cx="1240465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40401"/>
                </a:solidFill>
                <a:latin typeface="Arial"/>
              </a:rPr>
              <a:t>ElevenLabs STT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5139" y="3786187"/>
            <a:ext cx="1187302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40401"/>
                </a:solidFill>
                <a:latin typeface="Arial"/>
              </a:rPr>
              <a:t>If transactional: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7720" y="3741539"/>
            <a:ext cx="114299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40401"/>
                </a:solidFill>
                <a:latin typeface="Arial"/>
              </a:rPr>
              <a:t>Stream sent 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9162" y="3786187"/>
            <a:ext cx="1213883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50502"/>
                </a:solidFill>
                <a:latin typeface="Arial"/>
              </a:rPr>
              <a:t>median latency.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116" y="3937992"/>
            <a:ext cx="1523999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50602"/>
                </a:solidFill>
                <a:latin typeface="Arial"/>
              </a:rPr>
              <a:t>low-latency stream.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4837" y="3982640"/>
            <a:ext cx="921488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50602"/>
                </a:solidFill>
                <a:latin typeface="Arial"/>
              </a:rPr>
              <a:t>transcribes.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6581" y="3937992"/>
            <a:ext cx="1231604" cy="1518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5">
                <a:solidFill>
                  <a:srgbClr val="040400"/>
                </a:solidFill>
                <a:latin typeface="Arial"/>
              </a:rPr>
              <a:t>ElevenLabs TTS.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5139" y="3982640"/>
            <a:ext cx="1196162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B0C08"/>
                </a:solidFill>
                <a:latin typeface="Arial"/>
              </a:rPr>
              <a:t>2-Factor Verify.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7674" y="4259460"/>
            <a:ext cx="115186" cy="1250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96">
                <a:solidFill>
                  <a:srgbClr val="666F76"/>
                </a:solidFill>
                <a:latin typeface="Arial"/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4488" y="4259460"/>
            <a:ext cx="301255" cy="1250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96">
                <a:solidFill>
                  <a:srgbClr val="6F7D84"/>
                </a:solidFill>
                <a:latin typeface="Arial"/>
              </a:rPr>
              <a:t>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1441" y="4839890"/>
            <a:ext cx="655674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40401"/>
                </a:solidFill>
                <a:latin typeface="Arial"/>
              </a:rPr>
              <a:t>Optional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8534" y="5027414"/>
            <a:ext cx="78858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30400"/>
                </a:solidFill>
                <a:latin typeface="Arial"/>
              </a:rPr>
              <a:t>Escalation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1023" y="5197078"/>
            <a:ext cx="169234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506"/>
                </a:solidFill>
                <a:latin typeface="Arial"/>
              </a:rPr>
              <a:t>Human Handoff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8209" y="5116710"/>
            <a:ext cx="407581" cy="4018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57">
                <a:solidFill>
                  <a:srgbClr val="586C88"/>
                </a:solidFill>
                <a:latin typeface="Arial"/>
              </a:rPr>
              <a:t>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3976" y="5223867"/>
            <a:ext cx="75313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60603"/>
                </a:solidFill>
                <a:latin typeface="Arial"/>
              </a:rPr>
              <a:t>Triggered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2162" y="5509617"/>
            <a:ext cx="418213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B0C08"/>
                </a:solidFill>
                <a:latin typeface="Arial"/>
              </a:rPr>
              <a:t>Screen-pop with Al summary sent to human softphone.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1023" y="5697140"/>
            <a:ext cx="342013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80804"/>
                </a:solidFill>
                <a:latin typeface="Arial"/>
              </a:rPr>
              <a:t>Human joins room; Al steps aside seamlessly.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674" y="6581179"/>
            <a:ext cx="443023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5C5C5F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093" y="437554"/>
            <a:ext cx="10738883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47">
                <a:solidFill>
                  <a:srgbClr val="2D3B43"/>
                </a:solidFill>
                <a:latin typeface="Arial"/>
              </a:rPr>
              <a:t>A Decoupled, Microservice-Driven Enterprise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8255" y="1384101"/>
            <a:ext cx="1461976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30300"/>
                </a:solidFill>
                <a:latin typeface="Arial"/>
              </a:rPr>
              <a:t>Caller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8418" y="1348382"/>
            <a:ext cx="1878418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50502"/>
                </a:solidFill>
                <a:latin typeface="Arial"/>
              </a:rPr>
              <a:t>6 Human Softphone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8697" y="1366242"/>
            <a:ext cx="2064488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40501"/>
                </a:solidFill>
                <a:latin typeface="Arial"/>
              </a:rPr>
              <a:t>fa] Supervisor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60" y="1634132"/>
            <a:ext cx="1160720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10205"/>
                </a:solidFill>
                <a:latin typeface="Arial"/>
              </a:rPr>
              <a:t>CLIENT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999" y="1643062"/>
            <a:ext cx="2037906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50502"/>
                </a:solidFill>
                <a:latin typeface="Arial"/>
              </a:rPr>
              <a:t>&lt;)) WebRTC Audio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8418" y="1634132"/>
            <a:ext cx="2241697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10100C"/>
                </a:solidFill>
                <a:latin typeface="Arial"/>
              </a:rPr>
              <a:t>EG Screen Pop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8697" y="1643062"/>
            <a:ext cx="1967023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80803"/>
                </a:solidFill>
                <a:latin typeface="Arial"/>
              </a:rPr>
              <a:t>&lt;)) Live Audio Drawer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999" y="1875234"/>
            <a:ext cx="2223976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B0B07"/>
                </a:solidFill>
                <a:latin typeface="Arial"/>
              </a:rPr>
              <a:t>© Live Captions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3976" y="1875234"/>
            <a:ext cx="1993604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60602"/>
                </a:solidFill>
                <a:latin typeface="Arial"/>
              </a:rPr>
              <a:t>Call Disposition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0860" y="1285875"/>
            <a:ext cx="168348" cy="866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53677E"/>
                </a:solidFill>
                <a:latin typeface="Arial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8697" y="1866304"/>
            <a:ext cx="1869558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D0D08"/>
                </a:solidFill>
                <a:latin typeface="Arial"/>
              </a:rPr>
              <a:t>G Analytics &amp;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60" y="2821781"/>
            <a:ext cx="549348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00105"/>
                </a:solidFill>
                <a:latin typeface="Arial"/>
              </a:rPr>
              <a:t>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3232" y="2830710"/>
            <a:ext cx="2835348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30300"/>
                </a:solidFill>
                <a:latin typeface="Arial"/>
              </a:rPr>
              <a:t>LiveKit Server (WebRTC SFU)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99" y="3045023"/>
            <a:ext cx="1506279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00205"/>
                </a:solidFill>
                <a:latin typeface="Arial"/>
              </a:rPr>
              <a:t>TRANSPORT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1139" y="3214687"/>
            <a:ext cx="615802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12120E"/>
                </a:solidFill>
                <a:latin typeface="Arial"/>
              </a:rPr>
              <a:t>Room per Call: [ Caller ] &lt;--&gt; [ Voice Worker ] &lt;--&gt; [ Human Agent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7720" y="3866554"/>
            <a:ext cx="186069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22">
                <a:solidFill>
                  <a:srgbClr val="2B5378"/>
                </a:solidFill>
                <a:latin typeface="Arial"/>
              </a:rPr>
              <a:t>awe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99" y="4232671"/>
            <a:ext cx="1284767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10200"/>
                </a:solidFill>
                <a:latin typeface="Arial"/>
              </a:rPr>
              <a:t>VOICE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99" y="4464843"/>
            <a:ext cx="443023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10200"/>
                </a:solidFill>
                <a:latin typeface="Arial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1558" y="4214812"/>
            <a:ext cx="8647813" cy="4732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64">
                <a:solidFill>
                  <a:srgbClr val="445869"/>
                </a:solidFill>
                <a:latin typeface="Arial"/>
              </a:rPr>
              <a:t>| Silero VAD [&gt; ElevenLabs STT = LangGraph State Engine = ElevenLabs TTS 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581" y="4688085"/>
            <a:ext cx="1523999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70703"/>
                </a:solidFill>
                <a:latin typeface="Arial"/>
              </a:rPr>
              <a:t>(Python Service)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7116" y="4670226"/>
            <a:ext cx="274674" cy="3929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94">
                <a:solidFill>
                  <a:srgbClr val="455A6E"/>
                </a:solidFill>
                <a:latin typeface="Arial"/>
              </a:rPr>
              <a:t>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9534" y="4732734"/>
            <a:ext cx="345558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334A62"/>
                </a:solidFill>
                <a:latin typeface="Arial"/>
              </a:rPr>
              <a:t>cP)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7139" y="5063132"/>
            <a:ext cx="203790" cy="3839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31">
                <a:solidFill>
                  <a:srgbClr val="37587A"/>
                </a:solidFill>
                <a:latin typeface="Arial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5860" y="5643562"/>
            <a:ext cx="1559441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10100"/>
                </a:solidFill>
                <a:latin typeface="Arial"/>
              </a:rPr>
              <a:t>FastAPI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6395" y="5643562"/>
            <a:ext cx="2091069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300"/>
                </a:solidFill>
                <a:latin typeface="Arial"/>
              </a:rPr>
              <a:t>Tenant Tool Adapters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6674" y="5643562"/>
            <a:ext cx="2498651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30300"/>
                </a:solidFill>
                <a:latin typeface="Arial"/>
              </a:rPr>
              <a:t>PostgreSQL 16 + pgvector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60" y="5777507"/>
            <a:ext cx="1594883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5">
                <a:solidFill>
                  <a:srgbClr val="010206"/>
                </a:solidFill>
                <a:latin typeface="Arial"/>
              </a:rPr>
              <a:t>CONTROL PLANE &amp;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3581" y="5893593"/>
            <a:ext cx="2489790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80905"/>
                </a:solidFill>
                <a:latin typeface="Arial"/>
              </a:rPr>
              <a:t>@ Auth &amp; Token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0697" y="5911453"/>
            <a:ext cx="208220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60603"/>
                </a:solidFill>
                <a:latin typeface="Arial"/>
              </a:rPr>
              <a:t>mr) CRM / OMS Mock APIs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5534" y="5893593"/>
            <a:ext cx="1798674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C0C07"/>
                </a:solidFill>
                <a:latin typeface="Arial"/>
              </a:rPr>
              <a:t>&amp; Tenant 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60" y="6000750"/>
            <a:ext cx="1612604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00206"/>
                </a:solidFill>
                <a:latin typeface="Arial"/>
              </a:rPr>
              <a:t>PERSISTENCE 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6999" y="6143625"/>
            <a:ext cx="2046767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A0A06"/>
                </a:solidFill>
                <a:latin typeface="Arial"/>
              </a:rPr>
              <a:t>@® Escalation Queuing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5255" y="6134695"/>
            <a:ext cx="2401185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F0E0A"/>
                </a:solidFill>
                <a:latin typeface="Arial"/>
              </a:rPr>
              <a:t>&amp; Order / Ticket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4906" y="5545335"/>
            <a:ext cx="44302" cy="866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50647C"/>
                </a:solidFill>
                <a:latin typeface="Arial"/>
              </a:rPr>
              <a:t>|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0209" y="6143625"/>
            <a:ext cx="1993604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60703"/>
                </a:solidFill>
                <a:latin typeface="Arial"/>
              </a:rPr>
              <a:t>Vectors &amp; Transcripts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674" y="6581179"/>
            <a:ext cx="443023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686764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697" y="553640"/>
            <a:ext cx="7123813" cy="455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37">
                <a:solidFill>
                  <a:srgbClr val="273037"/>
                </a:solidFill>
                <a:latin typeface="Arial"/>
              </a:rPr>
              <a:t>Engineering Ultra-Low Latency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697" y="1089421"/>
            <a:ext cx="5759302" cy="455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37">
                <a:solidFill>
                  <a:srgbClr val="262F36"/>
                </a:solidFill>
                <a:latin typeface="Arial"/>
              </a:rPr>
              <a:t>Interruption-Aware 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0976" y="1794867"/>
            <a:ext cx="2410046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315875"/>
                </a:solidFill>
                <a:latin typeface="Arial"/>
              </a:rPr>
              <a:t>Total Time: &lt; 1.5s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9069" y="2187773"/>
            <a:ext cx="637953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30301"/>
                </a:solidFill>
                <a:latin typeface="Arial"/>
              </a:rPr>
              <a:t>150ms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6465" y="2187773"/>
            <a:ext cx="68225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0"/>
                </a:solidFill>
                <a:latin typeface="Arial"/>
              </a:rPr>
              <a:t>350ms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8767" y="2187773"/>
            <a:ext cx="691116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20100"/>
                </a:solidFill>
                <a:latin typeface="Arial"/>
              </a:rPr>
              <a:t>450ms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5627" y="2187773"/>
            <a:ext cx="67339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20200"/>
                </a:solidFill>
                <a:latin typeface="Arial"/>
              </a:rPr>
              <a:t>350ms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976" y="2678906"/>
            <a:ext cx="1134139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2F5B86"/>
                </a:solidFill>
                <a:latin typeface="Arial"/>
              </a:rPr>
              <a:t>Silero 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1418" y="2678906"/>
            <a:ext cx="1701209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2E5A84"/>
                </a:solidFill>
                <a:latin typeface="Arial"/>
              </a:rPr>
              <a:t>ElevenLabs 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255" y="2678906"/>
            <a:ext cx="1887279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2B5984"/>
                </a:solidFill>
                <a:latin typeface="Arial"/>
              </a:rPr>
              <a:t>Gemini Flash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0581" y="2678906"/>
            <a:ext cx="169234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2F5A83"/>
                </a:solidFill>
                <a:latin typeface="Arial"/>
              </a:rPr>
              <a:t>ElevenLabs TTS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32" y="2946796"/>
            <a:ext cx="1293627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30301"/>
                </a:solidFill>
                <a:latin typeface="Arial"/>
              </a:rPr>
              <a:t>Turn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3441" y="2946796"/>
            <a:ext cx="1568302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40401"/>
                </a:solidFill>
                <a:latin typeface="Arial"/>
              </a:rPr>
              <a:t>Streaming 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7767" y="2946796"/>
            <a:ext cx="1461976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30301"/>
                </a:solidFill>
                <a:latin typeface="Arial"/>
              </a:rPr>
              <a:t>First Token Emit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9185" y="2946796"/>
            <a:ext cx="1515139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20300"/>
                </a:solidFill>
                <a:latin typeface="Arial"/>
              </a:rPr>
              <a:t>First PCM Chunk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1302" y="4464843"/>
            <a:ext cx="4678325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10100"/>
                </a:solidFill>
                <a:latin typeface="Arial"/>
              </a:rPr>
              <a:t>¢ Dead-Air Management: If backend takes &gt; 1.2s,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8511" y="4705945"/>
            <a:ext cx="4261883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40401"/>
                </a:solidFill>
                <a:latin typeface="Arial"/>
              </a:rPr>
              <a:t>Al speaks an empathetic filler (“Let me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813" y="4804171"/>
            <a:ext cx="4607441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40401"/>
                </a:solidFill>
                <a:latin typeface="Arial"/>
              </a:rPr>
              <a:t>When caller interrupts, VAD triggers immediate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813" y="5072062"/>
            <a:ext cx="463402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40401"/>
                </a:solidFill>
                <a:latin typeface="Arial"/>
              </a:rPr>
              <a:t>cancellation, audio buffers are purged instantly,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8511" y="4955976"/>
            <a:ext cx="1461976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50502"/>
                </a:solidFill>
                <a:latin typeface="Arial"/>
              </a:rPr>
              <a:t>that for you...”).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813" y="5348882"/>
            <a:ext cx="4128976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40401"/>
                </a:solidFill>
                <a:latin typeface="Arial"/>
              </a:rPr>
              <a:t>and turn is marked “interrupted: true”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7371" y="5206007"/>
            <a:ext cx="4306185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20200"/>
                </a:solidFill>
                <a:latin typeface="Arial"/>
              </a:rPr>
              <a:t>Fallback Silence: 6.0s timeout prompts caller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8511" y="5456039"/>
            <a:ext cx="637953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20200"/>
                </a:solidFill>
                <a:latin typeface="Arial"/>
              </a:rPr>
              <a:t>gently.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674" y="5616773"/>
            <a:ext cx="2179674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401"/>
                </a:solidFill>
                <a:latin typeface="Arial"/>
              </a:rPr>
              <a:t>exact words captured.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1302" y="5697140"/>
            <a:ext cx="4669464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10100"/>
                </a:solidFill>
                <a:latin typeface="Arial"/>
              </a:rPr>
              <a:t>¢ Spoken Text Optimization: Markdown stripped,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7371" y="5947171"/>
            <a:ext cx="3677092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40401"/>
                </a:solidFill>
                <a:latin typeface="Arial"/>
              </a:rPr>
              <a:t>numbers read digit-by-digit (“4-8-2-1").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3929" y="6679406"/>
            <a:ext cx="877186" cy="982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181817"/>
                </a:solidFill>
                <a:latin typeface="Arial"/>
              </a:rPr>
              <a:t>(Gemini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9348" y="535781"/>
            <a:ext cx="11066720" cy="4732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64">
                <a:solidFill>
                  <a:srgbClr val="25323B"/>
                </a:solidFill>
                <a:latin typeface="Arial"/>
              </a:rPr>
              <a:t>Guaranteeing Zero Hallucination on Policies and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9139" y="1401960"/>
            <a:ext cx="2365744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60707"/>
                </a:solidFill>
                <a:latin typeface="Arial"/>
              </a:rPr>
              <a:t>Hybrid Retrieval Score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697" y="1669851"/>
            <a:ext cx="3792278" cy="339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14">
                <a:solidFill>
                  <a:srgbClr val="23303B"/>
                </a:solidFill>
                <a:latin typeface="Arial"/>
              </a:rPr>
              <a:t>Ingestion &amp; Hybrid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54116" y="1893093"/>
            <a:ext cx="79744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525A5E"/>
                </a:solidFill>
                <a:latin typeface="Arial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4488" y="2134195"/>
            <a:ext cx="1355651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30403"/>
                </a:solidFill>
                <a:latin typeface="Arial"/>
              </a:rPr>
              <a:t>Below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3883" y="2134195"/>
            <a:ext cx="1364511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30303"/>
                </a:solidFill>
                <a:latin typeface="Arial"/>
              </a:rPr>
              <a:t>Meets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720" y="2339578"/>
            <a:ext cx="3615069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00104"/>
                </a:solidFill>
                <a:latin typeface="Arial"/>
              </a:rPr>
              <a:t>¢ Document Chunking: 400-token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790" y="2669976"/>
            <a:ext cx="3118883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20407"/>
                </a:solidFill>
                <a:latin typeface="Arial"/>
              </a:rPr>
              <a:t>chunks with 60-token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325" y="2768203"/>
            <a:ext cx="2232837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10408"/>
                </a:solidFill>
                <a:latin typeface="Arial"/>
              </a:rPr>
              <a:t>REFUSAL: "| don't have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9464" y="2768203"/>
            <a:ext cx="2073348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50606"/>
                </a:solidFill>
                <a:latin typeface="Arial"/>
              </a:rPr>
              <a:t>Prompt Gemini with Strict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4651" y="3000375"/>
            <a:ext cx="2808767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10407"/>
                </a:solidFill>
                <a:latin typeface="Arial"/>
              </a:rPr>
              <a:t>across PDF, TXT, FAQ CSV.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185" y="2982515"/>
            <a:ext cx="2197395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5080D"/>
                </a:solidFill>
                <a:latin typeface="Arial"/>
              </a:rPr>
              <a:t>info. Let me connect you..."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991445"/>
            <a:ext cx="1506279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30303"/>
                </a:solidFill>
                <a:latin typeface="Arial"/>
              </a:rPr>
              <a:t>Context &amp;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720" y="3437929"/>
            <a:ext cx="3322674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10205"/>
                </a:solidFill>
                <a:latin typeface="Arial"/>
              </a:rPr>
              <a:t>¢ Hybrid Search: Merges dense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395" y="3259335"/>
            <a:ext cx="159488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565C60"/>
                </a:solidFill>
                <a:latin typeface="Arial"/>
              </a:rPr>
              <a:t>i}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883" y="3670101"/>
            <a:ext cx="1355651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40404"/>
                </a:solidFill>
                <a:latin typeface="Arial"/>
              </a:rPr>
              <a:t>Pydantic Output: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651" y="3768328"/>
            <a:ext cx="3703674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20508"/>
                </a:solidFill>
                <a:latin typeface="Arial"/>
              </a:rPr>
              <a:t>semantic vectors (pgvector Cosine)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7581" y="3857625"/>
            <a:ext cx="2994837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171718"/>
                </a:solidFill>
                <a:latin typeface="Arial"/>
              </a:rPr>
              <a:t>{ answer, used_chunk_ids, confidence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790" y="4098726"/>
            <a:ext cx="2968255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20408"/>
                </a:solidFill>
                <a:latin typeface="Arial"/>
              </a:rPr>
              <a:t>with sparse keywords (FTS).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720" y="4545210"/>
            <a:ext cx="3393558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00003"/>
                </a:solidFill>
                <a:latin typeface="Arial"/>
              </a:rPr>
              <a:t>¢ Reciprocal Rank Fusion (RRF):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1139" y="4580929"/>
            <a:ext cx="1275906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30303"/>
                </a:solidFill>
                <a:latin typeface="Arial"/>
              </a:rPr>
              <a:t>NO_ANSWER 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3464" y="4688085"/>
            <a:ext cx="1408813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20303"/>
                </a:solidFill>
                <a:latin typeface="Arial"/>
              </a:rPr>
              <a:t>Valid &amp; Grounded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976" y="4804171"/>
            <a:ext cx="1373372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50605"/>
                </a:solidFill>
                <a:latin typeface="Arial"/>
              </a:rPr>
              <a:t>empty chunk_ids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651" y="4875609"/>
            <a:ext cx="3074581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20408"/>
                </a:solidFill>
                <a:latin typeface="Arial"/>
              </a:rPr>
              <a:t>Ensures the highest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790" y="5206007"/>
            <a:ext cx="1116418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00206"/>
                </a:solidFill>
                <a:latin typeface="Arial"/>
              </a:rPr>
              <a:t>extraction.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6255" y="5366742"/>
            <a:ext cx="1772092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00700"/>
                </a:solidFill>
                <a:latin typeface="Arial"/>
              </a:rPr>
              <a:t>SYNTHESIZE SPEECH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4185" y="5473898"/>
            <a:ext cx="1780953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20508"/>
                </a:solidFill>
                <a:latin typeface="Arial"/>
              </a:rPr>
              <a:t>REFUSAL / ESCALATE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976" y="6206132"/>
            <a:ext cx="10747743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20306"/>
                </a:solidFill>
                <a:latin typeface="Arial"/>
              </a:rPr>
              <a:t>Traceable Auditing: Every spoken answer logs exact used_chunk_ids for instant supervisor verification.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86953" y="6688335"/>
            <a:ext cx="434162" cy="8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121313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8581" y="678656"/>
            <a:ext cx="10605976" cy="455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37">
                <a:solidFill>
                  <a:srgbClr val="010100"/>
                </a:solidFill>
                <a:latin typeface="Arial"/>
              </a:rPr>
              <a:t>Deterministic Dialogue State and Secure CRM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5465" y="1482328"/>
            <a:ext cx="327837" cy="357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75818A"/>
                </a:solidFill>
                <a:latin typeface="Arial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9279" y="1535906"/>
            <a:ext cx="186069" cy="714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6C7B83"/>
                </a:solidFill>
                <a:latin typeface="Arial"/>
              </a:rP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8860" y="1544835"/>
            <a:ext cx="203790" cy="8036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737F89"/>
                </a:solidFill>
                <a:latin typeface="Arial"/>
              </a:rPr>
              <a:t>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9906" y="1625203"/>
            <a:ext cx="230372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335779"/>
                </a:solidFill>
                <a:latin typeface="Arial"/>
              </a:rPr>
              <a:t>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023" y="1946671"/>
            <a:ext cx="97465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22">
                <a:solidFill>
                  <a:srgbClr val="000811"/>
                </a:solidFill>
                <a:latin typeface="Arial"/>
              </a:rPr>
              <a:t>Tenant-branded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7883" y="2116335"/>
            <a:ext cx="505046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9">
                <a:solidFill>
                  <a:srgbClr val="010A13"/>
                </a:solidFill>
                <a:latin typeface="Arial"/>
              </a:rPr>
              <a:t>greeting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6860" y="1884164"/>
            <a:ext cx="4492255" cy="6697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010408"/>
                </a:solidFill>
                <a:latin typeface="Arial"/>
              </a:rPr>
              <a:t>Two-Way Confirmation on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0464" y="2777132"/>
            <a:ext cx="389860" cy="357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282828"/>
                </a:solidFill>
                <a:latin typeface="Arial"/>
              </a:rPr>
              <a:t>—-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0860" y="2920007"/>
            <a:ext cx="726558" cy="3214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88">
                <a:solidFill>
                  <a:srgbClr val="00070E"/>
                </a:solidFill>
                <a:latin typeface="Arial"/>
              </a:rPr>
              <a:t>EN 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5720" y="2991445"/>
            <a:ext cx="2994837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010101"/>
                </a:solidFill>
                <a:latin typeface="Arial"/>
              </a:rPr>
              <a:t>High-risk operations (ticket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6860" y="3303984"/>
            <a:ext cx="3278372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30303"/>
                </a:solidFill>
                <a:latin typeface="Arial"/>
              </a:rPr>
              <a:t>submission, address updates,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209" y="3679031"/>
            <a:ext cx="939209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106"/>
                </a:solidFill>
                <a:latin typeface="Arial"/>
              </a:rPr>
              <a:t>CallState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6860" y="3598664"/>
            <a:ext cx="4120116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010101"/>
                </a:solidFill>
                <a:latin typeface="Arial"/>
              </a:rPr>
              <a:t>cancellations) require explicit spoken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8511" y="3955851"/>
            <a:ext cx="841744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106"/>
                </a:solidFill>
                <a:latin typeface="Arial"/>
              </a:rP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6651" y="4000500"/>
            <a:ext cx="44302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616C75"/>
                </a:solidFill>
                <a:latin typeface="Arial"/>
              </a:rPr>
              <a:t>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6860" y="3902273"/>
            <a:ext cx="401379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35">
                <a:solidFill>
                  <a:srgbClr val="010101"/>
                </a:solidFill>
                <a:latin typeface="Arial"/>
              </a:rPr>
              <a:t>read-back confirmation before firing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205882"/>
            <a:ext cx="1027813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20202"/>
                </a:solidFill>
                <a:latin typeface="Arial"/>
              </a:rPr>
              <a:t>API calls.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83" y="4625578"/>
            <a:ext cx="87718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22">
                <a:solidFill>
                  <a:srgbClr val="00040B"/>
                </a:solidFill>
                <a:latin typeface="Arial"/>
              </a:rPr>
              <a:t>* run_action: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04" y="4741664"/>
            <a:ext cx="144425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9131B"/>
                </a:solidFill>
                <a:latin typeface="Arial"/>
              </a:rPr>
              <a:t>Executes backend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0860" y="4616648"/>
            <a:ext cx="1036674" cy="1875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9">
                <a:solidFill>
                  <a:srgbClr val="00040B"/>
                </a:solidFill>
                <a:latin typeface="Arial"/>
              </a:rPr>
              <a:t>classify_intent: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0860" y="4804171"/>
            <a:ext cx="1337930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10912"/>
                </a:solidFill>
                <a:latin typeface="Arial"/>
              </a:rPr>
              <a:t>High-speed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8092" y="4759523"/>
            <a:ext cx="186069" cy="982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6E89A2"/>
                </a:solidFill>
                <a:latin typeface="Arial"/>
              </a:rPr>
              <a:t>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674" y="4866679"/>
            <a:ext cx="2418906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00400"/>
                </a:solidFill>
                <a:latin typeface="Arial"/>
              </a:rPr>
              <a:t>"| have created a 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674" y="5152429"/>
            <a:ext cx="3234069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10500"/>
                </a:solidFill>
                <a:latin typeface="Arial"/>
              </a:rPr>
              <a:t>request for item 4-8-2-1. Shall 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674" y="5447109"/>
            <a:ext cx="1967023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00400"/>
                </a:solidFill>
                <a:latin typeface="Arial"/>
              </a:rPr>
              <a:t>confirm this now?"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1558" y="5643562"/>
            <a:ext cx="1479697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70D15"/>
                </a:solidFill>
                <a:latin typeface="Arial"/>
              </a:rPr>
              <a:t>* verify_caller: |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6744" y="5840015"/>
            <a:ext cx="1187302" cy="169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12">
                <a:solidFill>
                  <a:srgbClr val="0B141C"/>
                </a:solidFill>
                <a:latin typeface="Arial"/>
              </a:rPr>
              <a:t>(Locks after 3 fails)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9604" y="6018609"/>
            <a:ext cx="310116" cy="357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8B949D"/>
                </a:solidFill>
                <a:latin typeface="Arial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3929" y="6581179"/>
            <a:ext cx="903767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696866"/>
                </a:solidFill>
                <a:latin typeface="Arial"/>
              </a:rPr>
              <a:t>(Gemini Notebook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56906" y="705445"/>
            <a:ext cx="8949069" cy="4732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64">
                <a:solidFill>
                  <a:srgbClr val="2C373E"/>
                </a:solidFill>
                <a:latin typeface="Arial"/>
              </a:rPr>
              <a:t>Enterprise Cloud-Native Component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697" y="1660921"/>
            <a:ext cx="549348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00004"/>
                </a:solidFill>
                <a:latin typeface="Arial"/>
              </a:rP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4976" y="1660921"/>
            <a:ext cx="1134139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00004"/>
                </a:solidFill>
                <a:latin typeface="Arial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8697" y="1651992"/>
            <a:ext cx="1258186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00002"/>
                </a:solidFill>
                <a:latin typeface="Arial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6697" y="1651992"/>
            <a:ext cx="1887279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000003"/>
                </a:solidFill>
                <a:latin typeface="Arial"/>
              </a:rPr>
              <a:t>Why We Selected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976" y="2178843"/>
            <a:ext cx="158602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000"/>
                </a:solidFill>
                <a:latin typeface="Arial"/>
              </a:rPr>
              <a:t>API Control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3837" y="2187773"/>
            <a:ext cx="673395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10100"/>
                </a:solidFill>
                <a:latin typeface="Arial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6418" y="2178843"/>
            <a:ext cx="2853069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301"/>
                </a:solidFill>
                <a:latin typeface="Arial"/>
              </a:rPr>
              <a:t>REST &amp; WebSocket auth,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557" y="2178843"/>
            <a:ext cx="311002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646461"/>
                </a:solidFill>
                <a:latin typeface="Arial"/>
              </a:rPr>
              <a:t>High async throughput, Pydantic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837" y="2696765"/>
            <a:ext cx="1470837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00001"/>
                </a:solidFill>
                <a:latin typeface="Arial"/>
              </a:rPr>
              <a:t>Media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3837" y="2705695"/>
            <a:ext cx="1196162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2">
                <a:solidFill>
                  <a:srgbClr val="020200"/>
                </a:solidFill>
                <a:latin typeface="Arial"/>
              </a:rPr>
              <a:t>LiveKit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7558" y="2696765"/>
            <a:ext cx="2587255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40401"/>
                </a:solidFill>
                <a:latin typeface="Arial"/>
              </a:rPr>
              <a:t>WebRTC SFU audio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5557" y="2696765"/>
            <a:ext cx="3083441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D0D0A"/>
                </a:solidFill>
                <a:latin typeface="Arial"/>
              </a:rPr>
              <a:t>Native room routing, clean SIP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976" y="3214687"/>
            <a:ext cx="1205023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00000"/>
                </a:solidFill>
                <a:latin typeface="Arial"/>
              </a:rPr>
              <a:t>Voice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3837" y="3214687"/>
            <a:ext cx="1160720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40301"/>
                </a:solidFill>
                <a:latin typeface="Arial"/>
              </a:rPr>
              <a:t>livekit-agents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8697" y="3214687"/>
            <a:ext cx="2791046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40401"/>
                </a:solidFill>
                <a:latin typeface="Arial"/>
              </a:rPr>
              <a:t>Async Python daemon for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5557" y="3214687"/>
            <a:ext cx="2755604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1F1E1B"/>
                </a:solidFill>
                <a:latin typeface="Arial"/>
              </a:rPr>
              <a:t>Production VAD, buffer flushing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837" y="3741539"/>
            <a:ext cx="138223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00101"/>
                </a:solidFill>
                <a:latin typeface="Arial"/>
              </a:rPr>
              <a:t>Speech-to-Text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3837" y="3741539"/>
            <a:ext cx="159488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200"/>
                </a:solidFill>
                <a:latin typeface="Arial"/>
              </a:rPr>
              <a:t>ElevenLabs Scribe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6418" y="3741539"/>
            <a:ext cx="2622697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301"/>
                </a:solidFill>
                <a:latin typeface="Arial"/>
              </a:rPr>
              <a:t>Real-time stream transcription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5557" y="3741539"/>
            <a:ext cx="3251790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5E5D5B"/>
                </a:solidFill>
                <a:latin typeface="Arial"/>
              </a:rPr>
              <a:t>Industry-leading latency, multilingual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837" y="4268390"/>
            <a:ext cx="137337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00100"/>
                </a:solidFill>
                <a:latin typeface="Arial"/>
              </a:rPr>
              <a:t>LLM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4976" y="4268390"/>
            <a:ext cx="1461976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20200"/>
                </a:solidFill>
                <a:latin typeface="Arial"/>
              </a:rPr>
              <a:t>Gemini 2.5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6418" y="4277320"/>
            <a:ext cx="2285999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40401"/>
                </a:solidFill>
                <a:latin typeface="Arial"/>
              </a:rPr>
              <a:t>Intent routing, KB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5557" y="4268390"/>
            <a:ext cx="3446720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11120E"/>
                </a:solidFill>
                <a:latin typeface="Arial"/>
              </a:rPr>
              <a:t>Sub-second TTFT, native JSON 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837" y="4795242"/>
            <a:ext cx="1373372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00101"/>
                </a:solidFill>
                <a:latin typeface="Arial"/>
              </a:rPr>
              <a:t>Text-to-Speech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13837" y="4795242"/>
            <a:ext cx="2055627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30301"/>
                </a:solidFill>
                <a:latin typeface="Arial"/>
              </a:rPr>
              <a:t>ElevenLabs Multilingual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6418" y="4804171"/>
            <a:ext cx="1798674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40401"/>
                </a:solidFill>
                <a:latin typeface="Arial"/>
              </a:rPr>
              <a:t>PCM voice synthesis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5557" y="4804171"/>
            <a:ext cx="3526465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1B1B19"/>
                </a:solidFill>
                <a:latin typeface="Arial"/>
              </a:rPr>
              <a:t>Ultra-realistic voice, tenant customization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837" y="5339953"/>
            <a:ext cx="121388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000"/>
                </a:solidFill>
                <a:latin typeface="Arial"/>
              </a:rPr>
              <a:t>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3837" y="5339953"/>
            <a:ext cx="939209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300"/>
                </a:solidFill>
                <a:latin typeface="Arial"/>
              </a:rPr>
              <a:t>LangGraph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6418" y="5339953"/>
            <a:ext cx="253409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30401"/>
                </a:solidFill>
                <a:latin typeface="Arial"/>
              </a:rPr>
              <a:t>Dialogue state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5557" y="5348882"/>
            <a:ext cx="3411278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1E1D1A"/>
                </a:solidFill>
                <a:latin typeface="Arial"/>
              </a:rPr>
              <a:t>Deterministic logic, Postgres state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837" y="5893593"/>
            <a:ext cx="1169581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00000"/>
                </a:solidFill>
                <a:latin typeface="Arial"/>
              </a:rPr>
              <a:t>DB &amp; Vectors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3837" y="5893593"/>
            <a:ext cx="2002465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20200"/>
                </a:solidFill>
                <a:latin typeface="Arial"/>
              </a:rPr>
              <a:t>PostgreSQL + pgvector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6418" y="5884664"/>
            <a:ext cx="2658139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30301"/>
                </a:solidFill>
                <a:latin typeface="Arial"/>
              </a:rPr>
              <a:t>Relational &amp; Embeddings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6697" y="5884664"/>
            <a:ext cx="3517604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5C5C58"/>
                </a:solidFill>
                <a:latin typeface="Arial"/>
              </a:rPr>
              <a:t>Zero external DBs needed, strict isolation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674" y="6581179"/>
            <a:ext cx="443023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5E6160"/>
                </a:solidFill>
                <a:latin typeface="Arial"/>
              </a:rPr>
              <a:t>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Original slide artwork (backup)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0" y="-1828800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2627" y="714375"/>
            <a:ext cx="10393325" cy="4643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>
                <a:solidFill>
                  <a:srgbClr val="1B2429"/>
                </a:solidFill>
                <a:latin typeface="Arial"/>
              </a:rPr>
              <a:t>Measurable Business Impact and Continuous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581" y="1803796"/>
            <a:ext cx="2099930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60">
                <a:solidFill>
                  <a:srgbClr val="7A9278"/>
                </a:solidFill>
                <a:latin typeface="Arial"/>
              </a:rPr>
              <a:t>&gt;=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0767" y="1705570"/>
            <a:ext cx="1275906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60">
                <a:solidFill>
                  <a:srgbClr val="7A9177"/>
                </a:solidFill>
                <a:latin typeface="Arial"/>
              </a:rP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1348" y="1660921"/>
            <a:ext cx="761999" cy="8126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637584"/>
                </a:solidFill>
                <a:latin typeface="Arial"/>
              </a:rPr>
              <a:t>él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8395" y="1794867"/>
            <a:ext cx="2117651" cy="5893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86">
                <a:solidFill>
                  <a:srgbClr val="395E87"/>
                </a:solidFill>
                <a:latin typeface="Arial"/>
              </a:rPr>
              <a:t>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0581" y="1723429"/>
            <a:ext cx="2188534" cy="723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7B9478"/>
                </a:solidFill>
                <a:latin typeface="Arial"/>
              </a:rPr>
              <a:t>&lt; $0.75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0767" y="2339578"/>
            <a:ext cx="1134139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798D75"/>
                </a:solidFill>
                <a:latin typeface="Arial"/>
              </a:rPr>
              <a:t>Decrease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2687835"/>
            <a:ext cx="1816395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00000"/>
                </a:solidFill>
                <a:latin typeface="Arial"/>
              </a:rPr>
              <a:t>Containment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046" y="2687835"/>
            <a:ext cx="1523999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55">
                <a:solidFill>
                  <a:srgbClr val="000000"/>
                </a:solidFill>
                <a:latin typeface="Arial"/>
              </a:rPr>
              <a:t>AHT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2953" y="2678906"/>
            <a:ext cx="1860697" cy="2946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98">
                <a:solidFill>
                  <a:srgbClr val="000000"/>
                </a:solidFill>
                <a:latin typeface="Arial"/>
              </a:rPr>
              <a:t>Transfer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1720" y="2687835"/>
            <a:ext cx="1931581" cy="24110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8">
                <a:solidFill>
                  <a:srgbClr val="000000"/>
                </a:solidFill>
                <a:latin typeface="Arial"/>
              </a:rPr>
              <a:t>Blended Cost /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139" y="3098601"/>
            <a:ext cx="1648046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20200"/>
                </a:solidFill>
                <a:latin typeface="Arial"/>
              </a:rPr>
              <a:t>Automatable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906" y="3098601"/>
            <a:ext cx="1825255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30300"/>
                </a:solidFill>
                <a:latin typeface="Arial"/>
              </a:rPr>
              <a:t>Drops baseline 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953" y="3098601"/>
            <a:ext cx="1710069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30300"/>
                </a:solidFill>
                <a:latin typeface="Arial"/>
              </a:rPr>
              <a:t>Validated, appropri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1720" y="3062882"/>
            <a:ext cx="1931581" cy="339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14">
                <a:solidFill>
                  <a:srgbClr val="070604"/>
                </a:solidFill>
                <a:latin typeface="Arial"/>
              </a:rPr>
              <a:t>Down from human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99" y="3223617"/>
            <a:ext cx="2392325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60">
                <a:solidFill>
                  <a:srgbClr val="1A1A17"/>
                </a:solidFill>
                <a:latin typeface="Arial"/>
              </a:rPr>
              <a:t>resolved end-to-end All|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813" y="3375421"/>
            <a:ext cx="1045534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20200"/>
                </a:solidFill>
                <a:latin typeface="Arial"/>
              </a:rPr>
              <a:t>escalations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1720" y="3277195"/>
            <a:ext cx="2356883" cy="491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290">
                <a:solidFill>
                  <a:srgbClr val="383935"/>
                </a:solidFill>
                <a:latin typeface="Arial"/>
              </a:rPr>
              <a:t>baseline of $4.50+ &amp;G)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1906" y="3321843"/>
            <a:ext cx="2560674" cy="6161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>
                <a:solidFill>
                  <a:srgbClr val="627173"/>
                </a:solidFill>
                <a:latin typeface="Arial"/>
              </a:rPr>
              <a:t>360s to &lt; 180s He 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6837" y="4295179"/>
            <a:ext cx="1701209" cy="3393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14">
                <a:solidFill>
                  <a:srgbClr val="677887"/>
                </a:solidFill>
                <a:latin typeface="Arial"/>
              </a:rPr>
              <a:t>ey 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1674" y="4330898"/>
            <a:ext cx="1727790" cy="3482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78">
                <a:solidFill>
                  <a:srgbClr val="87939D"/>
                </a:solidFill>
                <a:latin typeface="Arial"/>
              </a:rPr>
              <a:t>—_ 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7232" y="4947046"/>
            <a:ext cx="301255" cy="1339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9">
                <a:solidFill>
                  <a:srgbClr val="58666C"/>
                </a:solidFill>
                <a:latin typeface="Arial"/>
              </a:rP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813" y="5277445"/>
            <a:ext cx="956930" cy="22324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92">
                <a:solidFill>
                  <a:srgbClr val="010100"/>
                </a:solidFill>
                <a:latin typeface="Arial"/>
              </a:rPr>
              <a:t>Scaffold &amp;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7511" y="5384601"/>
            <a:ext cx="292395" cy="1250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96">
                <a:solidFill>
                  <a:srgbClr val="546168"/>
                </a:solidFill>
                <a:latin typeface="Arial"/>
              </a:rPr>
              <a:t>_—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4953" y="5277445"/>
            <a:ext cx="1001232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20200"/>
                </a:solidFill>
                <a:latin typeface="Arial"/>
              </a:rPr>
              <a:t>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0069" y="5277445"/>
            <a:ext cx="1169581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30300"/>
                </a:solidFill>
                <a:latin typeface="Arial"/>
              </a:rPr>
              <a:t>LangGraph 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3534" y="5286375"/>
            <a:ext cx="983511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20300"/>
                </a:solidFill>
                <a:latin typeface="Arial"/>
              </a:rPr>
              <a:t>Supervisor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325" y="5277445"/>
            <a:ext cx="1346790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8">
                <a:solidFill>
                  <a:srgbClr val="020200"/>
                </a:solidFill>
                <a:latin typeface="Arial"/>
              </a:rPr>
              <a:t>SIP, Speaker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418" y="5536406"/>
            <a:ext cx="770860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8">
                <a:solidFill>
                  <a:srgbClr val="010100"/>
                </a:solidFill>
                <a:latin typeface="Arial"/>
              </a:rPr>
              <a:t>WebRTC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627" y="5545335"/>
            <a:ext cx="451883" cy="20538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65">
                <a:solidFill>
                  <a:srgbClr val="010100"/>
                </a:solidFill>
                <a:latin typeface="Arial"/>
              </a:rPr>
              <a:t>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6953" y="5536406"/>
            <a:ext cx="1027813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20300"/>
                </a:solidFill>
                <a:latin typeface="Arial"/>
              </a:rPr>
              <a:t>Analytics &amp;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372" y="5866804"/>
            <a:ext cx="79744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22">
                <a:solidFill>
                  <a:srgbClr val="697A8C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372" y="5795367"/>
            <a:ext cx="101895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82">
                <a:solidFill>
                  <a:srgbClr val="020200"/>
                </a:solidFill>
                <a:latin typeface="Arial"/>
              </a:rPr>
              <a:t>Voice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1534" y="5795367"/>
            <a:ext cx="930348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20200"/>
                </a:solidFill>
                <a:latin typeface="Arial"/>
              </a:rPr>
              <a:t>Grounding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5651" y="5518546"/>
            <a:ext cx="1851837" cy="491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290">
                <a:solidFill>
                  <a:srgbClr val="2F3330"/>
                </a:solidFill>
                <a:latin typeface="Arial"/>
              </a:rPr>
              <a:t>4 Human Handoff 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0116" y="5795367"/>
            <a:ext cx="930348" cy="258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45">
                <a:solidFill>
                  <a:srgbClr val="020200"/>
                </a:solidFill>
                <a:latin typeface="Arial"/>
              </a:rPr>
              <a:t>Hardening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6371" y="5527476"/>
            <a:ext cx="1470837" cy="3839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31">
                <a:solidFill>
                  <a:srgbClr val="0E0F0B"/>
                </a:solidFill>
                <a:latin typeface="Arial"/>
              </a:rPr>
              <a:t>&amp; CRM Sync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3697" y="6054328"/>
            <a:ext cx="97465" cy="714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282828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94557" y="6045398"/>
            <a:ext cx="106325" cy="62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>
                <a:solidFill>
                  <a:srgbClr val="7F8FA1"/>
                </a:solidFill>
                <a:latin typeface="Arial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3929" y="6581179"/>
            <a:ext cx="903767" cy="276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71">
                <a:solidFill>
                  <a:srgbClr val="686865"/>
                </a:solidFill>
                <a:latin typeface="Arial"/>
              </a:rPr>
              <a:t>Gemini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