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I'm presenting AsistLine AI—a real-time voice intelligence platform purpose-built for enterprise contact centers and BPOs.</a:t>
            </a:r>
          </a:p>
          <a:p/>
          <a:p>
            <a:r>
              <a:t>On the left, call centers face a triple crisis: 30% to 45% annual agent turnover, 5 to 8 minute Tier-1 handle times spent on repetitive queries, and clunky touch-tone IVRs that customers hate. Meanwhile, generic LLMs introduce massive risk—hallucinating policies, fake refund terms, and inaccurate pricing.</a:t>
            </a:r>
          </a:p>
          <a:p/>
          <a:p>
            <a:r>
              <a:t>AsistLine AI solves this directly, as seen on the right:</a:t>
            </a:r>
          </a:p>
          <a:p>
            <a:r>
              <a:t>- Sub-1.5 second median voice latency for fluid, natural dialogue.</a:t>
            </a:r>
          </a:p>
          <a:p>
            <a:r>
              <a:t>- 100% grounded and verified responses, strictly referencing approved client documents and live APIs.</a:t>
            </a:r>
          </a:p>
          <a:p>
            <a:r>
              <a:t>- Sub-2 second warm human handoff when complex issues arise.</a:t>
            </a:r>
          </a:p>
          <a:p>
            <a:r>
              <a:t>- Hard Tier-1 multi-tenant data isolation at the database layer.</a:t>
            </a:r>
          </a:p>
          <a:p/>
          <a:p>
            <a:r>
              <a:t>In short, we deliver human-grade, zero-hallucination voice automation that resolves routine calls instantly and frees human agents for high-value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economics. In US contact centers—benchmarked against California—voice AI delivers an immediate 75% to 85% cost reduction per productive minute.</a:t>
            </a:r>
          </a:p>
          <a:p/>
          <a:p>
            <a:r>
              <a:t>Looking at the table on the left:</a:t>
            </a:r>
          </a:p>
          <a:p>
            <a:r>
              <a:t>In California, call center reps earn $22 to $25 hourly, but fully loaded with benefits, taxes, and overhead, the cost reaches $35 to $50+ per hour. Because human agents spend only 50% to 60% of their shift actively speaking, the effective cost per productive minute is $1.00 to $1.70.</a:t>
            </a:r>
          </a:p>
          <a:p/>
          <a:p>
            <a:r>
              <a:t>With AsistLine AI, you pay strictly for active call minutes at $0.08 to $0.25 per minute:</a:t>
            </a:r>
          </a:p>
          <a:p>
            <a:r>
              <a:t>- A 1.5-minute quick call drops from around $2.00 to just 20 cents.</a:t>
            </a:r>
          </a:p>
          <a:p>
            <a:r>
              <a:t>- A 3.5-minute standard call saves $4.00 per call.</a:t>
            </a:r>
          </a:p>
          <a:p>
            <a:r>
              <a:t>- A 7-minute call saves $8.00.</a:t>
            </a:r>
          </a:p>
          <a:p/>
          <a:p>
            <a:r>
              <a:t>On the right, you see our stacked pipeline costs: streaming STT under 2 cents, Gemini Flash reasoning under a cent, ElevenLabs voice synthesis at 2 to 12 cents, and telephony transport at 1 to 2 cents.</a:t>
            </a:r>
          </a:p>
          <a:p>
            <a:r>
              <a:t>All combined, our all-in cost is $0.085 to $0.25 per active minute—yielding an immediate 80% margin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savings only matter if the system scales reliably. Here is how AsistLine AI handles operational scale and powers our Tiered Hybrid Strategy.</a:t>
            </a:r>
          </a:p>
          <a:p/>
          <a:p>
            <a:r>
              <a:t>Across the top four capabilities:</a:t>
            </a:r>
          </a:p>
          <a:p>
            <a:r>
              <a:t>- Concurrency: While a human handles 1 call at a time, AI scales infinitely from 0 to 1,000+ simultaneous calls with zero capacity bottlenecks.</a:t>
            </a:r>
          </a:p>
          <a:p>
            <a:r>
              <a:t>- Queue Time: Callers never wait on hold; AI answers on the first ring, 24/7/365.</a:t>
            </a:r>
          </a:p>
          <a:p>
            <a:r>
              <a:t>- Data Entry: Manual wrap-up errors vanish—AI generates 100% structured JSON logs synced directly to CRM.</a:t>
            </a:r>
          </a:p>
          <a:p>
            <a:r>
              <a:t>- Training: AI has zero turnover; policy and prompt updates deploy globally in seconds.</a:t>
            </a:r>
          </a:p>
          <a:p/>
          <a:p>
            <a:r>
              <a:t>Looking at the bottom flow, we deploy a Tiered Hybrid Strategy:</a:t>
            </a:r>
          </a:p>
          <a:p>
            <a:r>
              <a:t>Tier 1 handles 70% to 80% of inbound volume using AsistLine AI—resolving FAQs, tracking orders, handling scheduling, and authenticating callers.</a:t>
            </a:r>
          </a:p>
          <a:p>
            <a:r>
              <a:t>When a call requires human empathy or complex troubleshooting, it triggers a Warm Transfer in under 2 seconds.</a:t>
            </a:r>
          </a:p>
          <a:p>
            <a:r>
              <a:t>The human specialist joins the exact same WebRTC room in Tier 2. The agent's screen immediately pops with the AI summary, verified data, and citations, so the customer never repeats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walk through the end-to-end caller journey across five seamless stages:</a:t>
            </a:r>
          </a:p>
          <a:p/>
          <a:p>
            <a:r>
              <a:t>1. WebRTC Connect: The caller clicks 'Call Support' on a web portal or dials in. The call connects to our self-hosted LiveKit SFU, establishing a low-latency WebRTC room.</a:t>
            </a:r>
          </a:p>
          <a:p>
            <a:r>
              <a:t>2. Listen &amp; Transcribe: Our Python voice worker detects speech using Silero VAD, passing the stream to ElevenLabs Scribe for streaming real-time transcription.</a:t>
            </a:r>
          </a:p>
          <a:p>
            <a:r>
              <a:t>3. LangGraph Orchestration: The transcription enters our LangGraph state machine. It classifies intent—routing routine FAQs to hybrid knowledge retrieval, or transactional queries to 2-factor authentication.</a:t>
            </a:r>
          </a:p>
          <a:p>
            <a:r>
              <a:t>4. Grounded Synthesis: Our Grounding Guard verifies the retrieved facts against approved knowledge chunks before streaming the text to ElevenLabs multilingual TTS.</a:t>
            </a:r>
          </a:p>
          <a:p>
            <a:r>
              <a:t>5. Audio Delivery: The synthesized voice streams back to the caller with under 1.5 seconds median response latency.</a:t>
            </a:r>
          </a:p>
          <a:p/>
          <a:p>
            <a:r>
              <a:t>And as shown at the bottom: if escalation is triggered, an instant AI summary is dispatched to the agent console, and the human agent joins the existing call room seamlessly.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5, you see our decoupled, microservice-driven enterprise architecture across four operational tiers:</a:t>
            </a:r>
          </a:p>
          <a:p/>
          <a:p>
            <a:r>
              <a:t>At the top, the Client Tier provides three React frontends:</a:t>
            </a:r>
          </a:p>
          <a:p>
            <a:r>
              <a:t>- The Caller Web App for WebRTC audio streaming and live captions.</a:t>
            </a:r>
          </a:p>
          <a:p>
            <a:r>
              <a:t>- The Human Softphone Console for incoming call alerts, screen pops, and disposition logging.</a:t>
            </a:r>
          </a:p>
          <a:p>
            <a:r>
              <a:t>- The Supervisor Portal for live transcript monitoring, KPI tracking, and KB management.</a:t>
            </a:r>
          </a:p>
          <a:p/>
          <a:p>
            <a:r>
              <a:t>Second is the Media Transport Tier, powered by a self-hosted LiveKit WebRTC SFU. LiveKit treats each call as a multi-party room, enabling callers, AI workers, and human agents to share the same audio space effortlessly.</a:t>
            </a:r>
          </a:p>
          <a:p/>
          <a:p>
            <a:r>
              <a:t>Third is the Voice Worker Tier in async Python. It ties together Silero VAD, ElevenLabs STT, the LangGraph engine, and ElevenLabs TTS in a non-blocking streaming pipeline.</a:t>
            </a:r>
          </a:p>
          <a:p/>
          <a:p>
            <a:r>
              <a:t>At the base is our Control Plane and Persistence Tier:</a:t>
            </a:r>
          </a:p>
          <a:p>
            <a:r>
              <a:t>FastAPI handles authentication, tokens, and escalation queues.</a:t>
            </a:r>
          </a:p>
          <a:p>
            <a:r>
              <a:t>Tenant Tool Adapters connect to client CRM and OMS systems.</a:t>
            </a:r>
          </a:p>
          <a:p>
            <a:r>
              <a:t>And PostgreSQL 16 with pgvector serves as our unified store for relational data, call transcripts, and vector embeddings—with strict tenant isolation enforced on every query.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voice AI, latency and natural turn-taking define the user experience. Anything over two seconds feels awkward and robotic.</a:t>
            </a:r>
          </a:p>
          <a:p/>
          <a:p>
            <a:r>
              <a:t>Across the top latency budget:</a:t>
            </a:r>
          </a:p>
          <a:p>
            <a:r>
              <a:t>- Silero VAD detects speech completion in 150 milliseconds.</a:t>
            </a:r>
          </a:p>
          <a:p>
            <a:r>
              <a:t>- ElevenLabs STT streams partial transcripts in 350 milliseconds.</a:t>
            </a:r>
          </a:p>
          <a:p>
            <a:r>
              <a:t>- Gemini Flash emits its first token in 450 milliseconds.</a:t>
            </a:r>
          </a:p>
          <a:p>
            <a:r>
              <a:t>- ElevenLabs TTS converts the first chunk into playable audio in 350 milliseconds.</a:t>
            </a:r>
          </a:p>
          <a:p>
            <a:r>
              <a:t>Total response time is under 1.5 seconds median—enabling fluid, natural conversation.</a:t>
            </a:r>
          </a:p>
          <a:p/>
          <a:p>
            <a:r>
              <a:t>On the bottom left: Instant Barge-In under 300 milliseconds.</a:t>
            </a:r>
          </a:p>
          <a:p>
            <a:r>
              <a:t>If a caller interrupts while the AI is speaking, VAD immediately cancels the audio track, flushes pending buffers, and logs the turn as interrupted with the exact words spoken.</a:t>
            </a:r>
          </a:p>
          <a:p/>
          <a:p>
            <a:r>
              <a:t>On the bottom right, we smooth conversation naturally:</a:t>
            </a:r>
          </a:p>
          <a:p>
            <a:r>
              <a:t>- If a CRM lookup takes over 1.2 seconds, the AI utters a natural filler: 'Let me check that for you.'</a:t>
            </a:r>
          </a:p>
          <a:p>
            <a:r>
              <a:t>- If the caller is silent for 6 seconds, the system prompts gently before closing.</a:t>
            </a:r>
          </a:p>
          <a:p>
            <a:r>
              <a:t>- And all output text is phonetically optimized, reading alphanumeric order IDs digit-by-digit.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covers our core safety pillar: Guaranteeing Zero Hallucination on corporate policies, pricing, and rules.</a:t>
            </a:r>
          </a:p>
          <a:p/>
          <a:p>
            <a:r>
              <a:t>On the left, our Ingestion and Retrieval Pipeline chunks documents into 400-token blocks across PDFs, TXT, and FAQ CSVs. When a question is asked, we run Hybrid Search—combining pgvector semantic cosine similarity with PostgreSQL full-text search, fused via Reciprocal Rank Fusion. This catches both conversational questions and exact SKU codes.</a:t>
            </a:r>
          </a:p>
          <a:p/>
          <a:p>
            <a:r>
              <a:t>Follow the flowchart on the right:</a:t>
            </a:r>
          </a:p>
          <a:p>
            <a:r>
              <a:t>1. If the hybrid retrieval score is below the tenant's threshold, the LLM is bypassed entirely. The AI immediately responds with an approved 'information not found' line and offers a human transfer.</a:t>
            </a:r>
          </a:p>
          <a:p>
            <a:r>
              <a:t>2. If the threshold is met, Gemini Flash is prompted with strict context constraints: 'Answer ONLY from context; if missing, reply NO_ANSWER.'</a:t>
            </a:r>
          </a:p>
          <a:p>
            <a:r>
              <a:t>3. The model must return structured Pydantic output containing the answer, confidence, and exact chunk UUIDs.</a:t>
            </a:r>
          </a:p>
          <a:p>
            <a:r>
              <a:t>Answers with NO_ANSWER or empty chunk IDs are rejected immediately. Only verified, grounded answers are spoken.</a:t>
            </a:r>
          </a:p>
          <a:p/>
          <a:p>
            <a:r>
              <a:t>Finally, as shown in the bottom banner: every spoken answer logs its specific chunk UUIDs directly into the call record for full compliance auditing.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8, we explore dialogue control. Rather than relying on unpredictable LLM loops, AsistLine AI uses LangGraph to enforce a deterministic, checkpointed state machine.</a:t>
            </a:r>
          </a:p>
          <a:p/>
          <a:p>
            <a:r>
              <a:t>In the circular diagram on the left:</a:t>
            </a:r>
          </a:p>
          <a:p>
            <a:r>
              <a:t>- 'greet' delivers the tenant-branded greeting in the caller's language.</a:t>
            </a:r>
          </a:p>
          <a:p>
            <a:r>
              <a:t>- 'detect_language' dynamically tracks and switches between English, Hindi, and Spanish.</a:t>
            </a:r>
          </a:p>
          <a:p>
            <a:r>
              <a:t>- 'classify_intent' categorizes inquiries into billing, order tracking, complaints, or FAQs.</a:t>
            </a:r>
          </a:p>
          <a:p>
            <a:r>
              <a:t>- 'verify_caller' enforces 2-factor authentication—such as Order ID plus Phone Last-4—and automatically locks and escalates after 3 failed attempts.</a:t>
            </a:r>
          </a:p>
          <a:p>
            <a:r>
              <a:t>- 'run_action' executes backend API calls via our TenantToolAdapter interface.</a:t>
            </a:r>
          </a:p>
          <a:p>
            <a:r>
              <a:t>- 'check_escalation' evaluates sentiment and trigger keywords after every turn.</a:t>
            </a:r>
          </a:p>
          <a:p/>
          <a:p>
            <a:r>
              <a:t>On the right is an indispensable enterprise safeguard: Two-Way Confirmation on Writes.</a:t>
            </a:r>
          </a:p>
          <a:p>
            <a:r>
              <a:t>The AI is strictly barred from executing state-changing transactions—like filing complaints, updating shipping addresses, or booking callbacks—without reading back details for explicit verbal confirmation. As shown: 'I have created a return request for item 4-8-2-1. Shall I confirm this now?' Only upon caller agreement does the action fire.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summarizes our enterprise cloud-native technology stack, selected for high async throughput, low latency, and production stability.</a:t>
            </a:r>
          </a:p>
          <a:p/>
          <a:p>
            <a:r>
              <a:t>Going through the layers:</a:t>
            </a:r>
          </a:p>
          <a:p>
            <a:r>
              <a:t>- API Control Plane: FastAPI with Python 3.12 delivers high async throughput and strict Pydantic v2 data validation.</a:t>
            </a:r>
          </a:p>
          <a:p>
            <a:r>
              <a:t>- Media Transport: Self-hosted LiveKit Server provides WebRTC SFU streaming and native multi-party room routing, ensuring a smooth path to SIP telephony.</a:t>
            </a:r>
          </a:p>
          <a:p>
            <a:r>
              <a:t>- Voice Worker: Python livekit-agents gives us production-grade VAD, turn detection, and instant buffer flushing for barge-in.</a:t>
            </a:r>
          </a:p>
          <a:p>
            <a:r>
              <a:t>- Speech-to-Text: ElevenLabs Scribe offers ultra-low latency streaming transcription and automatic language detection.</a:t>
            </a:r>
          </a:p>
          <a:p>
            <a:r>
              <a:t>- LLM Reasoning: Gemini 2.5 Flash delivers sub-second Time-To-First-Token and native JSON schema outputs.</a:t>
            </a:r>
          </a:p>
          <a:p>
            <a:r>
              <a:t>- Text-to-Speech: ElevenLabs Multilingual produces natural, high-fidelity voice personas tailored per tenant.</a:t>
            </a:r>
          </a:p>
          <a:p>
            <a:r>
              <a:t>- Orchestration: LangGraph provides deterministic state control and turn-by-turn checkpointing in PostgreSQL.</a:t>
            </a:r>
          </a:p>
          <a:p>
            <a:r>
              <a:t>- Database &amp; Vectors: PostgreSQL 16 with pgvector unifies relational records and vector embeddings in a single engine with strict multi-tenant isolation.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let's examine our measurable business KPIs and phased delivery roadmap.</a:t>
            </a:r>
          </a:p>
          <a:p/>
          <a:p>
            <a:r>
              <a:t>Across the top are our four key operational benchmarks:</a:t>
            </a:r>
          </a:p>
          <a:p>
            <a:r>
              <a:t>1. Containment Rate: Over 70% of routine Tier-1 calls resolved end-to-end by AI without human intervention.</a:t>
            </a:r>
          </a:p>
          <a:p>
            <a:r>
              <a:t>2. AHT Reduction: Average Handle Time drops by 50%—from a 360-second baseline down to under 180 seconds on AI-handled calls.</a:t>
            </a:r>
          </a:p>
          <a:p>
            <a:r>
              <a:t>3. Transfer Accuracy: Over 90% of escalations are validated by human agents as appropriate, eliminating wasted agent time.</a:t>
            </a:r>
          </a:p>
          <a:p>
            <a:r>
              <a:t>4. Blended Cost Per Call: Average cost per call drops from a $4.50+ human baseline to under 75 cents.</a:t>
            </a:r>
          </a:p>
          <a:p/>
          <a:p>
            <a:r>
              <a:t>Across the bottom, our phased milestones:</a:t>
            </a:r>
          </a:p>
          <a:p>
            <a:r>
              <a:t>- M0 and M1 established the multi-tenant scaffold, LiveKit WebRTC loop, and sub-1.5s latency SLA.</a:t>
            </a:r>
          </a:p>
          <a:p>
            <a:r>
              <a:t>- M2 validated our hybrid retrieval and zero-hallucination Grounding Guard.</a:t>
            </a:r>
          </a:p>
          <a:p>
            <a:r>
              <a:t>- M3 and M4 delivered LangGraph orchestration, CRM tool adapters, and the agent console warm transfer.</a:t>
            </a:r>
          </a:p>
          <a:p>
            <a:r>
              <a:t>- M5 and M6 introduced supervisor analytics, cross-tenant isolation testing, and multilingual support.</a:t>
            </a:r>
          </a:p>
          <a:p>
            <a:r>
              <a:t>- And Phase 2 expands the platform into carrier SIP trunking, biometric speaker ID, and native Salesforce/Zendesk CRM integrations.</a:t>
            </a:r>
          </a:p>
          <a:p/>
          <a:p>
            <a:r>
              <a:t>Thank you. I'm now ready for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